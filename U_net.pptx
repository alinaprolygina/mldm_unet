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9488418d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19488418df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9488418df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19488418df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9488418df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19488418df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9488418df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19488418df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9488418df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19488418df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9488418df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19488418df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9488418df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19488418df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9488418df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19488418df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9488418df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19488418df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488418df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19488418df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Google Shape;22;p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Google Shape;35;p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" name="Google Shape;37;p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4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4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4"/>
          <p:cNvSpPr/>
          <p:nvPr>
            <p:ph idx="3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Google Shape;49;p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" name="Google Shape;50;p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" name="Google Shape;52;p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5"/>
          <p:cNvSpPr/>
          <p:nvPr>
            <p:ph idx="2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3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5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6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7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" name="Google Shape;64;p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" name="Google Shape;65;p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6"/>
          <p:cNvSpPr txBox="1"/>
          <p:nvPr>
            <p:ph idx="1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6"/>
          <p:cNvSpPr/>
          <p:nvPr>
            <p:ph idx="3" type="tbl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" name="Google Shape;77;p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" name="Google Shape;78;p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" name="Google Shape;79;p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7"/>
          <p:cNvSpPr txBox="1"/>
          <p:nvPr>
            <p:ph idx="1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7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7"/>
          <p:cNvSpPr/>
          <p:nvPr>
            <p:ph idx="3" type="tbl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4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5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6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7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8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8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>
            <p:ph idx="2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3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8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9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circle with white text&#10;&#10;Description automatically generated with low confidence"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1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1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11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idx="2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3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1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1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1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3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6" name="Google Shape;156;p12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12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13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3"/>
          <p:cNvSpPr txBox="1"/>
          <p:nvPr>
            <p:ph idx="2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idx="3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13"/>
          <p:cNvSpPr txBox="1"/>
          <p:nvPr>
            <p:ph idx="4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13"/>
          <p:cNvSpPr txBox="1"/>
          <p:nvPr>
            <p:ph idx="5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6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7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8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9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rPr lang="ru-RU"/>
              <a:t>U-Net:Convolutional Networks for Biomedical Image Segmentation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rPr lang="ru-RU"/>
              <a:t>Review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Faculty of Computer Science</a:t>
            </a:r>
            <a:endParaRPr/>
          </a:p>
        </p:txBody>
      </p:sp>
      <p:sp>
        <p:nvSpPr>
          <p:cNvPr id="182" name="Google Shape;182;p14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Data Science</a:t>
            </a:r>
            <a:endParaRPr/>
          </a:p>
        </p:txBody>
      </p:sp>
      <p:sp>
        <p:nvSpPr>
          <p:cNvPr id="183" name="Google Shape;183;p14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Moscow 2024</a:t>
            </a:r>
            <a:endParaRPr/>
          </a:p>
        </p:txBody>
      </p:sp>
      <p:sp>
        <p:nvSpPr>
          <p:cNvPr id="184" name="Google Shape;184;p14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</a:pPr>
            <a:r>
              <a:rPr lang="ru-RU"/>
              <a:t>Alina Prolygina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Problems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585900" y="2379676"/>
            <a:ext cx="52455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lnSpcReduction="20000"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Challenges in Biomedical Image Segmentation: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The need for precise pixel-wise classification.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Limited availability of annotated training data.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High complexity of biomedical images (overlapping structures, irregular shapes, or poor contrast).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Examples of Tasks: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Neuron segmentation in electron microscopy.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Cell segmentation in light microscopy.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</p:txBody>
      </p:sp>
      <p:sp>
        <p:nvSpPr>
          <p:cNvPr id="192" name="Google Shape;192;p15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Introduction</a:t>
            </a:r>
            <a:endParaRPr/>
          </a:p>
        </p:txBody>
      </p:sp>
      <p:sp>
        <p:nvSpPr>
          <p:cNvPr id="194" name="Google Shape;194;p15"/>
          <p:cNvSpPr txBox="1"/>
          <p:nvPr>
            <p:ph type="title"/>
          </p:nvPr>
        </p:nvSpPr>
        <p:spPr>
          <a:xfrm>
            <a:off x="6325973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Solution</a:t>
            </a:r>
            <a:endParaRPr/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6325975" y="2379675"/>
            <a:ext cx="52455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lnSpcReduction="10000"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U-Net architecture: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Symmetrical U-shaped structure.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Efficient combination of context and localization.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High accuracy with minimal data requirements.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Results: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Leading performance in ISBI challenges on electron and light microscopy image segmentation.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Applicability to a wide range of segmentation tasks.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96" name="Google Shape;1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624" y="4224243"/>
            <a:ext cx="2070100" cy="210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675" y="4230438"/>
            <a:ext cx="2070100" cy="20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/>
          <p:nvPr/>
        </p:nvSpPr>
        <p:spPr>
          <a:xfrm>
            <a:off x="5349100" y="4969350"/>
            <a:ext cx="1459200" cy="61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585899" y="1447800"/>
            <a:ext cx="3534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Role of Deep CNN in Image Processing</a:t>
            </a:r>
            <a:endParaRPr/>
          </a:p>
        </p:txBody>
      </p:sp>
      <p:sp>
        <p:nvSpPr>
          <p:cNvPr id="204" name="Google Shape;204;p16"/>
          <p:cNvSpPr txBox="1"/>
          <p:nvPr>
            <p:ph idx="1" type="body"/>
          </p:nvPr>
        </p:nvSpPr>
        <p:spPr>
          <a:xfrm>
            <a:off x="585900" y="2379675"/>
            <a:ext cx="35340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Enable automatic feature extraction.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Set new standards of accuracy in classification and recognition tasks.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</p:txBody>
      </p:sp>
      <p:sp>
        <p:nvSpPr>
          <p:cNvPr id="206" name="Google Shape;206;p16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Convolutional Networks</a:t>
            </a:r>
            <a:endParaRPr/>
          </a:p>
        </p:txBody>
      </p:sp>
      <p:sp>
        <p:nvSpPr>
          <p:cNvPr id="208" name="Google Shape;208;p16"/>
          <p:cNvSpPr txBox="1"/>
          <p:nvPr>
            <p:ph type="title"/>
          </p:nvPr>
        </p:nvSpPr>
        <p:spPr>
          <a:xfrm>
            <a:off x="7510325" y="1447800"/>
            <a:ext cx="40611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Shift from Classification to Segmentation</a:t>
            </a:r>
            <a:endParaRPr/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8037475" y="2379675"/>
            <a:ext cx="35340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Classification: assigning a single class label to an image.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Segmentation: assigning a class label to each pixel.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New challenges: ensuring localization accuracy and leveraging contextual information.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 txBox="1"/>
          <p:nvPr>
            <p:ph type="title"/>
          </p:nvPr>
        </p:nvSpPr>
        <p:spPr>
          <a:xfrm>
            <a:off x="4119899" y="1447800"/>
            <a:ext cx="3534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Contribution of Krizhevsky et al. (2012)</a:t>
            </a:r>
            <a:endParaRPr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4157013" y="2379675"/>
            <a:ext cx="35340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AlexNet architecture achieved outstanding results on ImageNet.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Utilized deep convolutional networks trained on a dataset of 1 million images.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000" y="4167188"/>
            <a:ext cx="4778182" cy="19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6600" y="3990213"/>
            <a:ext cx="4619200" cy="228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3727349" y="1449390"/>
            <a:ext cx="43224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Sliding window method </a:t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3727350" y="2024850"/>
            <a:ext cx="43224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Applies a small window to all parts of the image.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Each window is classified independently.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 txBox="1"/>
          <p:nvPr>
            <p:ph idx="2" type="body"/>
          </p:nvPr>
        </p:nvSpPr>
        <p:spPr>
          <a:xfrm>
            <a:off x="515950" y="2985952"/>
            <a:ext cx="4152000" cy="1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High computational cost: processing overlapping regions increases resource usage.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Limited context: small windows only capture local features.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Trade-off: larger windows provide more context but reduce localization accuracy.</a:t>
            </a:r>
            <a:endParaRPr sz="1300"/>
          </a:p>
        </p:txBody>
      </p:sp>
      <p:sp>
        <p:nvSpPr>
          <p:cNvPr id="221" name="Google Shape;221;p17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2" name="Google Shape;222;p17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Previous Approaches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942050" y="23605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Drawbacks</a:t>
            </a:r>
            <a:r>
              <a:rPr lang="ru-RU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8133925" y="23605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Advantages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7877300" y="291465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Char char="●"/>
            </a:pPr>
            <a:r>
              <a:rPr lang="ru-RU" sz="1300">
                <a:solidFill>
                  <a:srgbClr val="0E2D69"/>
                </a:solidFill>
              </a:rPr>
              <a:t>Simple implementation.</a:t>
            </a:r>
            <a:endParaRPr sz="1300">
              <a:solidFill>
                <a:srgbClr val="0E2D6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Char char="●"/>
            </a:pPr>
            <a:r>
              <a:rPr lang="ru-RU" sz="1300">
                <a:solidFill>
                  <a:srgbClr val="0E2D69"/>
                </a:solidFill>
              </a:rPr>
              <a:t>Ability to localize objects.</a:t>
            </a:r>
            <a:endParaRPr sz="1300">
              <a:solidFill>
                <a:srgbClr val="0E2D69"/>
              </a:solidFill>
            </a:endParaRPr>
          </a:p>
        </p:txBody>
      </p:sp>
      <p:pic>
        <p:nvPicPr>
          <p:cNvPr id="227" name="Google Shape;2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475" y="2684600"/>
            <a:ext cx="2235050" cy="3291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idx="2" type="body"/>
          </p:nvPr>
        </p:nvSpPr>
        <p:spPr>
          <a:xfrm>
            <a:off x="515950" y="2247800"/>
            <a:ext cx="47199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Core Concept: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U-Net is designed specifically for pixel-wise image segmentation.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The architecture combines two main paths:</a:t>
            </a:r>
            <a:endParaRPr sz="1300"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Contracting path: captures global context by progressively reducing spatial dimensions.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Expanding path: restores resolution for precise localization while incorporating contextual information.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Key Characteristics: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Symmetrical, U-shaped structure.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Skip connections between corresponding layers in contracting and expanding paths.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Allows the network to integrate low-level spatial features with high-level semantic information.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Efficient for tasks with limited annotated data.</a:t>
            </a:r>
            <a:endParaRPr sz="13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33" name="Google Shape;233;p18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Architecture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1096550" y="14494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U-Net Architecture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37" name="Google Shape;2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450" y="1898675"/>
            <a:ext cx="5688144" cy="403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idx="2" type="body"/>
          </p:nvPr>
        </p:nvSpPr>
        <p:spPr>
          <a:xfrm>
            <a:off x="515950" y="2247800"/>
            <a:ext cx="47199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fontScale="92500" lnSpcReduction="10000"/>
          </a:bodyPr>
          <a:lstStyle/>
          <a:p>
            <a:pPr indent="-30495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ru-RU"/>
              <a:t>Process Description:</a:t>
            </a:r>
            <a:endParaRPr/>
          </a:p>
          <a:p>
            <a:pPr indent="-304958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ru-RU" sz="1300"/>
              <a:t>Step-by-step reduction of the spatial resolution of the image.</a:t>
            </a:r>
            <a:endParaRPr sz="1300"/>
          </a:p>
          <a:p>
            <a:pPr indent="-304958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ru-RU" sz="1300"/>
              <a:t>Several operations are applied:</a:t>
            </a:r>
            <a:endParaRPr sz="1300"/>
          </a:p>
          <a:p>
            <a:pPr indent="-304958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3x3 Convolutions: Increase the depth of feature maps to extract complex characteristics.</a:t>
            </a:r>
            <a:endParaRPr/>
          </a:p>
          <a:p>
            <a:pPr indent="-304958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ReLU (Rectified Linear Unit): Adds non-linearity to the network.</a:t>
            </a:r>
            <a:endParaRPr/>
          </a:p>
          <a:p>
            <a:pPr indent="-304958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2x2 Max-Pooling: Reduces the spatial dimensions while preserving key features.</a:t>
            </a:r>
            <a:endParaRPr/>
          </a:p>
          <a:p>
            <a:pPr indent="-30495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ru-RU" sz="1300"/>
              <a:t>Role of the Contracting Path:</a:t>
            </a:r>
            <a:endParaRPr sz="1300"/>
          </a:p>
          <a:p>
            <a:pPr indent="-304958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ru-RU" sz="1300"/>
              <a:t>Captures global context.</a:t>
            </a:r>
            <a:endParaRPr sz="1300"/>
          </a:p>
          <a:p>
            <a:pPr indent="-304958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ru-RU" sz="1300"/>
              <a:t>Extracts high-level features required for understanding the overall structure of the image.</a:t>
            </a:r>
            <a:endParaRPr sz="1300"/>
          </a:p>
          <a:p>
            <a:pPr indent="-304958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ru-RU" sz="1300"/>
              <a:t>Key Features:</a:t>
            </a:r>
            <a:endParaRPr sz="1300"/>
          </a:p>
          <a:p>
            <a:pPr indent="-304958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ru-RU" sz="1300"/>
              <a:t>The number of feature maps doubles at each level.</a:t>
            </a:r>
            <a:endParaRPr sz="1300"/>
          </a:p>
          <a:p>
            <a:pPr indent="-304958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ru-RU" sz="1300"/>
              <a:t>Reducing spatial dimensions increases computational efficienc</a:t>
            </a:r>
            <a:r>
              <a:rPr lang="ru-RU"/>
              <a:t>y.</a:t>
            </a:r>
            <a:endParaRPr sz="11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43" name="Google Shape;243;p19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Contracting Path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1096550" y="14494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Contracting Path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47" name="Google Shape;2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450" y="1898675"/>
            <a:ext cx="5688144" cy="40381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/>
          <p:nvPr/>
        </p:nvSpPr>
        <p:spPr>
          <a:xfrm>
            <a:off x="5553350" y="1347575"/>
            <a:ext cx="2763900" cy="4626300"/>
          </a:xfrm>
          <a:prstGeom prst="rect">
            <a:avLst/>
          </a:prstGeom>
          <a:noFill/>
          <a:ln cap="flat" cmpd="sng" w="9525">
            <a:solidFill>
              <a:srgbClr val="234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idx="2" type="body"/>
          </p:nvPr>
        </p:nvSpPr>
        <p:spPr>
          <a:xfrm>
            <a:off x="-617800" y="2264950"/>
            <a:ext cx="64287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lnSpcReduction="10000"/>
          </a:bodyPr>
          <a:lstStyle/>
          <a:p>
            <a: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Process Description:</a:t>
            </a:r>
            <a:endParaRPr sz="1300"/>
          </a:p>
          <a:p>
            <a: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Gradual restoration of spatial resolution.</a:t>
            </a:r>
            <a:endParaRPr sz="1300"/>
          </a:p>
          <a:p>
            <a: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The following operations are applied:</a:t>
            </a:r>
            <a:endParaRPr sz="1300"/>
          </a:p>
          <a:p>
            <a: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ru-RU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Up-Convolution (2x2): Increases the size of feature maps.</a:t>
            </a:r>
            <a:endParaRPr sz="1200"/>
          </a:p>
          <a:p>
            <a: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ru-RU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Merging with skip connections: Combines high-level features with detailed data from the contracting path.</a:t>
            </a:r>
            <a:endParaRPr sz="1200"/>
          </a:p>
          <a:p>
            <a: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ru-RU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3x3 Convolutions and ReLU: Generates new feature maps with improved localization.</a:t>
            </a:r>
            <a:endParaRPr sz="130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Role of the Expanding Path:</a:t>
            </a:r>
            <a:endParaRPr sz="1300"/>
          </a:p>
          <a:p>
            <a: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Restores image resolution for precise segmentation.</a:t>
            </a:r>
            <a:endParaRPr sz="1300"/>
          </a:p>
          <a:p>
            <a: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Integrates contextual data with local features.</a:t>
            </a:r>
            <a:endParaRPr sz="1300"/>
          </a:p>
          <a:p>
            <a: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Key Features:</a:t>
            </a:r>
            <a:endParaRPr sz="1300"/>
          </a:p>
          <a:p>
            <a: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Symmetry with the contracting path.</a:t>
            </a:r>
            <a:endParaRPr sz="1300"/>
          </a:p>
          <a:p>
            <a: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Use of skip connections for enhanced segmentation accurac</a:t>
            </a:r>
            <a:r>
              <a:rPr lang="ru-RU"/>
              <a:t>y.</a:t>
            </a:r>
            <a:endParaRPr sz="11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54" name="Google Shape;254;p20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Expanding Path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1096550" y="1449400"/>
            <a:ext cx="41565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Expanding Path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58" name="Google Shape;2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450" y="1898675"/>
            <a:ext cx="5688144" cy="403814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/>
          <p:nvPr/>
        </p:nvSpPr>
        <p:spPr>
          <a:xfrm>
            <a:off x="8329900" y="1381900"/>
            <a:ext cx="3165600" cy="4617900"/>
          </a:xfrm>
          <a:prstGeom prst="rect">
            <a:avLst/>
          </a:prstGeom>
          <a:noFill/>
          <a:ln cap="flat" cmpd="sng" w="9525">
            <a:solidFill>
              <a:srgbClr val="234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/>
          <p:nvPr>
            <p:ph idx="2" type="body"/>
          </p:nvPr>
        </p:nvSpPr>
        <p:spPr>
          <a:xfrm>
            <a:off x="623350" y="1998850"/>
            <a:ext cx="4844100" cy="4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Core Innovations: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Skip Connections: Directly link layers from the contracting path to corresponding layers in the expanding path.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Enable the network to combine low-level spatial details with high-level semantic features.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Fully Convolutional Architecture: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Eliminates the need for fully connected layers.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Allows the network to process images of arbitrary sizes efficiently.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Modified Expanding Path: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Larger number of feature channels maintained throughout the expanding path.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Ensures propagation of contextual information to higher-resolution</a:t>
            </a:r>
            <a:r>
              <a:rPr lang="ru-RU" sz="1300"/>
              <a:t> </a:t>
            </a:r>
            <a:r>
              <a:rPr lang="ru-RU" sz="1300"/>
              <a:t>layers.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Segmentation Without Borders: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Uses only valid parts of convolutions to avoid artifacts at the edges.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Allows for seamless segmentation of large images via the overlap-tile strategy:</a:t>
            </a:r>
            <a:endParaRPr sz="13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300"/>
              <a:t>Missing context at the image borders is extrapolated using mirroring.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Data Augmentation:</a:t>
            </a:r>
            <a:endParaRPr sz="1300"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 sz="1300"/>
              <a:t>Incorporates elastic deformations, making the network invariant to these transformations.</a:t>
            </a:r>
            <a:endParaRPr sz="11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65" name="Google Shape;265;p21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</a:pPr>
            <a:r>
              <a:rPr lang="ru-RU">
                <a:solidFill>
                  <a:schemeClr val="dk1"/>
                </a:solidFill>
              </a:rPr>
              <a:t>Key Modifications in U-Net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105125" y="1344575"/>
            <a:ext cx="40704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Key Modifications in U-Net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69" name="Google Shape;2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600" y="1147150"/>
            <a:ext cx="4476800" cy="22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6086" y="3368325"/>
            <a:ext cx="4239825" cy="30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idx="2" type="body"/>
          </p:nvPr>
        </p:nvSpPr>
        <p:spPr>
          <a:xfrm>
            <a:off x="614775" y="1707025"/>
            <a:ext cx="4844100" cy="4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Training Challenges:</a:t>
            </a:r>
            <a:endParaRPr sz="1300"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Limited amount of annotated training data, especially in biomedical tasks.</a:t>
            </a:r>
            <a:endParaRPr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Importance of handling imbalances between foreground and background classes.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Key Training Strategies:</a:t>
            </a:r>
            <a:endParaRPr sz="1300"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Loss Function: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Pixel-wise cross-entropy combined with a weighted loss.</a:t>
            </a:r>
            <a:endParaRPr sz="10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Weights are assigned to balance class frequencies and emphasize separating boundaries between objects (e.g., touching cells).</a:t>
            </a:r>
            <a:endParaRPr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Data Augmentation: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Elastic deformations to simulate realistic variations (e.g., tissue stretching).</a:t>
            </a:r>
            <a:endParaRPr sz="10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Shifts, rotations, and intensity variations to improve generalization.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Optimization:</a:t>
            </a:r>
            <a:endParaRPr sz="1300"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Stochastic Gradient Descent (SGD) with high momentum (0.99).</a:t>
            </a:r>
            <a:endParaRPr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Large input tiles used instead of large batch sizes to maximize GPU memory usage.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Resulting Benefits:</a:t>
            </a:r>
            <a:endParaRPr sz="1300"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Enhanced robustness to deformations and limited data availability.</a:t>
            </a:r>
            <a:endParaRPr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Improved boundary precision for complex structures.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6" name="Google Shape;276;p22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Training</a:t>
            </a:r>
            <a:endParaRPr/>
          </a:p>
        </p:txBody>
      </p:sp>
      <p:pic>
        <p:nvPicPr>
          <p:cNvPr id="279" name="Google Shape;2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725" y="4986825"/>
            <a:ext cx="5932100" cy="16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1143700" y="1129975"/>
            <a:ext cx="40704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Training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81" name="Google Shape;28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7900" y="1408473"/>
            <a:ext cx="4070400" cy="382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1800" y="1594339"/>
            <a:ext cx="1754625" cy="4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idx="2" type="body"/>
          </p:nvPr>
        </p:nvSpPr>
        <p:spPr>
          <a:xfrm>
            <a:off x="515950" y="2316425"/>
            <a:ext cx="4844100" cy="27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lnSpcReduction="10000"/>
          </a:bodyPr>
          <a:lstStyle/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Dataset and Task: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ISBI Challenge for Electron Microscopy (EM) segmentation.</a:t>
            </a:r>
            <a:endParaRPr sz="1000"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Task: Segment neuronal structures from EM stacks (30 images).</a:t>
            </a:r>
            <a:endParaRPr sz="10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Performance Metrics: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Warping Error: 0.000353 (Best score in the competition).</a:t>
            </a:r>
            <a:endParaRPr sz="1000"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Rand Error: 0.0382.</a:t>
            </a:r>
            <a:endParaRPr sz="1000"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Significantly outperformed the sliding-window CNN approach (Warping Error = 0.000420).</a:t>
            </a:r>
            <a:endParaRPr sz="10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Impact: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Accurate segmentation even with a small training set (30 annotated images).</a:t>
            </a:r>
            <a:endParaRPr sz="1000"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Demonstrates U-Net’s ability to handle large, high-resolution images using the overlap-tile strategy.</a:t>
            </a:r>
            <a:endParaRPr sz="1000"/>
          </a:p>
          <a:p>
            <a: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ru-RU" sz="1000"/>
              <a:t>Segmentation of a 512x512 pixel image takes less than 1 second on a modern GPU.</a:t>
            </a:r>
            <a:endParaRPr sz="1000"/>
          </a:p>
        </p:txBody>
      </p:sp>
      <p:sp>
        <p:nvSpPr>
          <p:cNvPr id="288" name="Google Shape;288;p23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90" name="Google Shape;290;p23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Results - Neuronal Segmentation (ISBI EM Challenge)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641525" y="1121400"/>
            <a:ext cx="83493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Results - Neuronal Segmentation (ISBI EM Challenge)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100" y="2620298"/>
            <a:ext cx="5061426" cy="19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idx="2" type="body"/>
          </p:nvPr>
        </p:nvSpPr>
        <p:spPr>
          <a:xfrm>
            <a:off x="515950" y="2316425"/>
            <a:ext cx="5466600" cy="27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Datasets: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PhC-U373 (Phase Contrast Microscopy): Glioblastoma-astrocytoma U373 cells on polyacrylamide substrate (35 images).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IoU: 92.03% (significantly better than the second-best method at 83%).</a:t>
            </a:r>
            <a:endParaRPr sz="10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DIC-HeLa (Differential Interference Contrast Microscopy): HeLa cells on flat glass (20 images).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 sz="1000"/>
              <a:t>IoU: 77.56% (second-best method achieved only 46%).</a:t>
            </a:r>
            <a:endParaRPr/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-RU"/>
              <a:t>Impact: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Demonstrates U-Net’s ability to handle diverse imaging modalities.</a:t>
            </a:r>
            <a:endParaRPr sz="1000"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 sz="1000"/>
              <a:t>Accurately segments touching and overlapping cells, solving a critical challenge in cell tracking.</a:t>
            </a:r>
            <a:endParaRPr sz="1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98" name="Google Shape;298;p24"/>
          <p:cNvSpPr txBox="1"/>
          <p:nvPr>
            <p:ph idx="4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 txBox="1"/>
          <p:nvPr>
            <p:ph idx="5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Results - Neuronal Segmentation (ISBI EM Challenge)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1641525" y="1121400"/>
            <a:ext cx="91476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</a:rPr>
              <a:t>Results - Cell Segmentation (ISBI Cell Tracking Challenge 2015)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02" name="Google Shape;3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0375" y="5141525"/>
            <a:ext cx="3274806" cy="13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/>
          <p:cNvPicPr preferRelativeResize="0"/>
          <p:nvPr/>
        </p:nvPicPr>
        <p:blipFill rotWithShape="1">
          <a:blip r:embed="rId4">
            <a:alphaModFix/>
          </a:blip>
          <a:srcRect b="0" l="-15154" r="0" t="-15154"/>
          <a:stretch/>
        </p:blipFill>
        <p:spPr>
          <a:xfrm>
            <a:off x="5593741" y="3467037"/>
            <a:ext cx="6170658" cy="156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8977" y="1828625"/>
            <a:ext cx="5497598" cy="15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>
            <p:ph type="title"/>
          </p:nvPr>
        </p:nvSpPr>
        <p:spPr>
          <a:xfrm>
            <a:off x="585898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Advantages</a:t>
            </a:r>
            <a:endParaRPr/>
          </a:p>
        </p:txBody>
      </p:sp>
      <p:sp>
        <p:nvSpPr>
          <p:cNvPr id="310" name="Google Shape;310;p25"/>
          <p:cNvSpPr txBox="1"/>
          <p:nvPr>
            <p:ph idx="1" type="body"/>
          </p:nvPr>
        </p:nvSpPr>
        <p:spPr>
          <a:xfrm>
            <a:off x="585900" y="2379674"/>
            <a:ext cx="52455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High Accuracy with Limited Data: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U-Net is specifically designed to work effectively with small, annotated datasets, making it ideal for biomedical applications.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Precise Localization: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Skip connections allow for a combination of global context and pixel-level precision.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Robustness to Variations: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Elastic deformations and other augmentations make U-Net resilient to image distortions and real-world variabilities.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Versatility Across Domains: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Effective for diverse segmentation tasks, including biomedical imaging, satellite data analysis, and autonomous driving.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Efficient Architecture: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Fully convolutional design enables processing of arbitrarily large images using the overlap-tile strategy.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</p:txBody>
      </p:sp>
      <p:sp>
        <p:nvSpPr>
          <p:cNvPr id="312" name="Google Shape;312;p25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Advantages and Limitations</a:t>
            </a:r>
            <a:endParaRPr/>
          </a:p>
        </p:txBody>
      </p:sp>
      <p:sp>
        <p:nvSpPr>
          <p:cNvPr id="314" name="Google Shape;314;p25"/>
          <p:cNvSpPr txBox="1"/>
          <p:nvPr>
            <p:ph type="title"/>
          </p:nvPr>
        </p:nvSpPr>
        <p:spPr>
          <a:xfrm>
            <a:off x="6325973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Limitations</a:t>
            </a:r>
            <a:endParaRPr/>
          </a:p>
        </p:txBody>
      </p:sp>
      <p:sp>
        <p:nvSpPr>
          <p:cNvPr id="315" name="Google Shape;315;p25"/>
          <p:cNvSpPr txBox="1"/>
          <p:nvPr>
            <p:ph idx="1" type="body"/>
          </p:nvPr>
        </p:nvSpPr>
        <p:spPr>
          <a:xfrm>
            <a:off x="6171500" y="2379675"/>
            <a:ext cx="5245500" cy="2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High Computational Requirements: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Large input tiles and the need to process feature-rich images demand significant GPU memory.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Sensitivity to Annotations: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U-Net relies heavily on high-quality, accurate labels; noisy or incorrect annotations can degrade performance.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Challenges with Complex Datasets: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For datasets with drastically different characteristics, extensive fine-tuning or retraining may be required.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 txBox="1"/>
          <p:nvPr>
            <p:ph type="title"/>
          </p:nvPr>
        </p:nvSpPr>
        <p:spPr>
          <a:xfrm>
            <a:off x="3287723" y="14493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Conclusion</a:t>
            </a:r>
            <a:endParaRPr/>
          </a:p>
        </p:txBody>
      </p:sp>
      <p:sp>
        <p:nvSpPr>
          <p:cNvPr id="321" name="Google Shape;321;p26"/>
          <p:cNvSpPr txBox="1"/>
          <p:nvPr>
            <p:ph idx="1" type="body"/>
          </p:nvPr>
        </p:nvSpPr>
        <p:spPr>
          <a:xfrm>
            <a:off x="1221075" y="2405425"/>
            <a:ext cx="101001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Key Takeaways: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U-Net has revolutionized image segmentation, particularly in biomedical imaging.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The U-shaped architecture with skip connections balances localization accuracy and contextual understanding.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Robust data augmentation strategies enable high performance even with limited annotated datasets.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Impact in Biomedical Applications: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Set new benchmarks in segmentation challenges, such as ISBI EM and Cell Tracking.</a:t>
            </a:r>
            <a:endParaRPr/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-RU"/>
              <a:t>Addressed critical challenges like overlapping cells and thin boundaries in biomedical images.</a:t>
            </a:r>
            <a:endParaRPr/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Future Directions:</a:t>
            </a:r>
            <a:endParaRPr/>
          </a:p>
          <a:p>
            <a:pPr indent="-3111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Optimization for 3D and Volumetric Data: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Expanding U-Net’s architecture for segmentation in 3D biomedical imaging.</a:t>
            </a:r>
            <a:endParaRPr/>
          </a:p>
          <a:p>
            <a:pPr indent="-3111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Scaling for Ultra-High-Resolution Data: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Reducing computational requirements to handle large-scale images more efficiently.</a:t>
            </a:r>
            <a:endParaRPr/>
          </a:p>
          <a:p>
            <a:pPr indent="-3111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-RU"/>
              <a:t>Exploration Beyond Biomedical Applications: </a:t>
            </a:r>
            <a:endParaRPr/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ru-RU"/>
              <a:t>Applying U-Net to satellite imagery, autonomous driving, and other domains.</a:t>
            </a:r>
            <a:endParaRPr/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Faculty of Computer Science</a:t>
            </a:r>
            <a:endParaRPr/>
          </a:p>
        </p:txBody>
      </p:sp>
      <p:sp>
        <p:nvSpPr>
          <p:cNvPr id="323" name="Google Shape;323;p26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None/>
            </a:pPr>
            <a:r>
              <a:rPr lang="ru-RU">
                <a:solidFill>
                  <a:schemeClr val="dk1"/>
                </a:solidFill>
              </a:rPr>
              <a:t>U-Net:Convolutional Networks for Biomedical Image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